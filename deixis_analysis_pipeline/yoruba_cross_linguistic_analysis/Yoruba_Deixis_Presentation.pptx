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Does an AI have the same morals in every language?</a:t>
            </a:r>
          </a:p>
          <a:p>
            <a:pPr algn="l">
              <a:spcBef>
                <a:spcPts val="1600"/>
              </a:spcBef>
            </a:pPr>
            <a:r>
              <a:rPr sz="2200" b="0" i="0">
                <a:solidFill>
                  <a:srgbClr val="CFE3F0"/>
                </a:solidFill>
                <a:latin typeface="Calibri"/>
              </a:rPr>
              <a:t>Deixis, mo / èmi, and moral reasoning in LLMs — English vs Yoruba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FC0D4"/>
                </a:solidFill>
                <a:latin typeface="Calibri"/>
              </a:rPr>
              <a:t>4 models (GPT-4o · Claude · DeepSeek · N-ATLaS) · 6 dilemmas · 9 deictic framings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3946"/>
                </a:solidFill>
                <a:latin typeface="Calibri"/>
              </a:rPr>
              <a:t>The provocation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Take one model. Take one ethical dilemma. Ask it the same question — once in English, once in Yoruba.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Does it give the same answer?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No. For the same model, dilemma, and framing, the coded decision flips ≈ 45% of the time.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Moral judgment is not a fixed content the model merely translates. The language helps produce the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The design: deixis as moral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Deixis = words that depend on who speaks and from where: I / you / we / impersonal / reflexive / spatial / temporal / cosmological.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We treat it as a moral-positioning device: who decides, how obligation is distributed, how directly the model commits.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6 dilemmas: trolley · ICU bed · whistleblower · scholarship fraud · AI consciousness · memory modification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9 framings × 4 models × 2 languages → a comparable English–Yoruba corpus, recoded into one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The Yoruba lever English doesn't have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English collapses the moral first person into a single pronoun: "I."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Yoruba grammaticalizes a contrast: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mo — ordinary "I" (deliberation): Mo rò pé… "I think that…"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èmi — emphatic "I myself / as for me" (avowal): Èmi yóò pinnu… "I myself will decide"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ẹ̀mí — a different word: "life / spirit / breath" (a tonal homograph of èmi)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6A77D"/>
                </a:solidFill>
                <a:latin typeface="Calibri"/>
              </a:rPr>
              <a:t>Yoruba can mark how strongly the speaker owns a moral stance. English can't, grammatically.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3946"/>
                </a:solidFill>
                <a:latin typeface="Calibri"/>
              </a:rPr>
              <a:t>So: is moral alignment language-neutral?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If a model's ethics change with the language of the prompt, alignment is not a single, language-neutral property of the system.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It is mediated by grammar, discourse convention, cultural address — and training history.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We test this with four model families, in both English and Yoruba.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A5F"/>
                </a:solidFill>
                <a:latin typeface="Calibri"/>
              </a:rPr>
              <a:t>Finding 1 — Yoruba commands, English explains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1_macro_markers_en_vs_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417320"/>
            <a:ext cx="102412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Direct imperatives 3% → 65% (p&lt;0.001, both models, version-clean via GPT-4o). Yoruba is ~2× more pronoun- and obligation-dense; English hedges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D3A5F"/>
                </a:solidFill>
                <a:latin typeface="Calibri"/>
              </a:rPr>
              <a:t>Example — Whistleblower (same model, same frame)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Claude · cosmological framing · "should you disclose falsified safety data?"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49240" cy="3200400"/>
          </a:xfrm>
          <a:prstGeom prst="rect">
            <a:avLst/>
          </a:prstGeom>
          <a:solidFill>
            <a:srgbClr val="EAF1F7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457B9D"/>
                </a:solidFill>
                <a:latin typeface="Calibri"/>
              </a:rPr>
              <a:t>English — explores, doesn't commit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"I aim to explore this carefully… safety should be the primary concern, while being mindful of process. I'd encourage…"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828800"/>
            <a:ext cx="5349240" cy="3200400"/>
          </a:xfrm>
          <a:prstGeom prst="rect">
            <a:avLst/>
          </a:prstGeom>
          <a:solidFill>
            <a:srgbClr val="FBE9EB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E63946"/>
                </a:solidFill>
                <a:latin typeface="Calibri"/>
              </a:rPr>
              <a:t>Yorùbá — commits, with a moral reason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"Ohun tí o gbọdọ̀ ṣe ni láti ṣàfihàn… Ẹ̀mí àwọn ènìyàn ṣe pàtàkì ju gbogbo nǹkan lọ."  ("What you must do is disclose… people's lives matter more than anything.")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A77D"/>
                </a:solidFill>
                <a:latin typeface="Calibri"/>
              </a:rPr>
              <a:t>→ Same model, same question — English consults, Yoruba issues a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A5F"/>
                </a:solidFill>
                <a:latin typeface="Calibri"/>
              </a:rPr>
              <a:t>Finding 2 — Switching language flips the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0_deixis_decis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638599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Decision flips English→Yoruba in ~45% of matched cells (whistleblower 61%). A: ethic by language · B: commit by framing · C: flips by dilemma · D: framing×ethic.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D3A5F"/>
                </a:solidFill>
                <a:latin typeface="Calibri"/>
              </a:rPr>
              <a:t>Example — Trolley problem (a decision reversal)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Claude · first-person framing · divert the trolley to kill one instead of five?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49240" cy="3200400"/>
          </a:xfrm>
          <a:prstGeom prst="rect">
            <a:avLst/>
          </a:prstGeom>
          <a:solidFill>
            <a:srgbClr val="EAF1F7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457B9D"/>
                </a:solidFill>
                <a:latin typeface="Calibri"/>
              </a:rPr>
              <a:t>English — refuses to commit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"I aim to explore this thoughtfully… from a utilitarian view diverting could minimize harm. However, this involves…"  (no decision)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828800"/>
            <a:ext cx="5349240" cy="3200400"/>
          </a:xfrm>
          <a:prstGeom prst="rect">
            <a:avLst/>
          </a:prstGeom>
          <a:solidFill>
            <a:srgbClr val="FBE9EB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E63946"/>
                </a:solidFill>
                <a:latin typeface="Calibri"/>
              </a:rPr>
              <a:t>Yorùbá — commits, utilitarian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"Ṣe mi ó yí ẹkùn náà padà. Ìdí rẹ̀ ni pé iye ènìyàn tí yóò yè túbọ̀ pọ̀."  ("I will divert the trolley. Because more people will live.")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A77D"/>
                </a:solidFill>
                <a:latin typeface="Calibri"/>
              </a:rPr>
              <a:t>→ The same dilemma becomes a hedge in English and a committed utilitarian verdict in Yoruba.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Finding 3 — Yoruba differentiates the ethics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English responses overwhelmingly read as "mixed / balanced" — the multi-framework essay.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Yoruba responses select recognizable moral idioms: duty, outcome, care, procedure.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Named (non-"mixed") ethical stance: Yoruba 53% vs English 17%  (p &lt; 0.001).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Yoruba doesn't just make answers more forceful — it makes the moral reasoning more nameable.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A5F"/>
                </a:solidFill>
                <a:latin typeface="Calibri"/>
              </a:rPr>
              <a:t>The centerpiece — mo vs èmi marks commitment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2_emphatic_committed_vs_he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528175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Emphatic ratio èmi/(mo+èmi) is higher where the model takes a stance: 0.22 committed vs 0.13 hedged (Mann–Whitney p=0.022). èmi = avowal; mo = deliberation.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Example — one dilemma, five frames, FIVE ethics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Claude · Yorùbá · whistleblower — every frame reaches "disclose," each via a different ethics: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impersonal → duty / right-to-know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second person → utilitarian, emphatic: "Èmi yóò ṣàfihàn… ẹ̀mí ènìyàn kò ní iye owó" ("I myself will disclose… a human life has no price")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reflexive → hesitation ("first talk to your colleague…")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spatial → procedure (numbered protocol)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cosmological → virtue (trust &amp; integrity above friendship, money, job)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6A77D"/>
                </a:solidFill>
                <a:latin typeface="Calibri"/>
              </a:rPr>
              <a:t>The deictic frame re-selects the moral idiom — holding model, dilemma, language fixed.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A5F"/>
                </a:solidFill>
                <a:latin typeface="Calibri"/>
              </a:rPr>
              <a:t>Models inhabit the resource differently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_natlas_open_vs_clou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782648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Corrected emphatic ratio forms a stable gradient: Claude 0.32 &gt; GPT-4o 0.18 &gt; DeepSeek 0.07 ≈ N-ATLaS 0.07. Genre, stability, and length diverge by model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3946"/>
                </a:solidFill>
                <a:latin typeface="Calibri"/>
              </a:rPr>
              <a:t>The twist — the native model inverts the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N-ATLaS is a Yoruba/Nigeria-native model — the crucial control.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If emphatic èmi were "the authentic Yoruba way" to commit, the native model should use it MOST.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It uses it LEAST — most mo-dominant of the four — yet commits readily ("Mo pinnu…" = "I decide…").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So Claude's heavy èmi is a model-specific performance (a partly translated "I personally"), not a Yoruba universal.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Emphatic èmi is a commitment-calibration resource — not an authenticity marker.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Two levels: universal mechanism, contingent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Frame uptake is language-invariant: indexical coherence 0.90 (English) vs 0.91 (Yoruba); the assigned moral agent is identical across languages.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Every model understands WHO should decide — equally well in both languages.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6A77D"/>
                </a:solidFill>
                <a:latin typeface="Calibri"/>
              </a:rPr>
              <a:t>But what it does with the frame diverges: Yoruba fills it with more imperatives, obligation, person-marking, fewer refusals.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Deixis = a shared anchoring mechanism (linguistic); the moral content attached to it is language- and model-specific.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The honest null — what we DON'T find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Tempting hypothesis: each frame selects an ethical framework (impersonal→duty, you→utilitarian, cosmological→procedural…).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Descriptively it appears — but it does NOT reach significance in either language (χ² p ≈ 0.72 Yoruba / 0.78 English; N=12/cell).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The frame reliably changes how forcefully the model answers — not which doctrine it names.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Reflexive → most hedged; second-person → most decisive (Yoruba p=0.027). Delivery, not doctrine.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3946"/>
                </a:solidFill>
                <a:latin typeface="Calibri"/>
              </a:rPr>
              <a:t>The big open question (we keep it open)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Why does Yoruba elicit a more committed, imperative, differentiated moral voice?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Linguistic / cultural pre-alignment? — Yoruba's grammar (mo/èmi, obligation) genuinely affords moral stance English can't encode.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Just the training data? — models may have learned Yoruba from didactic/advisory/religious registers that command and advise.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Alignment &amp; decoding style? — English RLHF rewards balanced hedging; that prior may simply not transfer to Yoruba.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Our evidence fits all three. The native-model inversion rules out "mechanical translation" — but cannot yet separate language from corpus from alignment.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Verdict: genuinely open — and that is the honest, interesting finding.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How Yoruba &amp; English "solve" the dilemmas differently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Across the same model and frame, the languages diverge on the actual decision: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Trolley — English hesitates; Yoruba diverts ("more will live").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ICU bed — English refuses to choose; Yoruba gives the bed to the parent of three (the children depend on them).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Scholarship fraud — a full reversal: English leans to compassion (help the student); Yoruba leans to fairness ("it would be unjust to the others").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Memory modification — English weighs both sides; Yoruba advises caution and deferral ("first try other treatments").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6A77D"/>
                </a:solidFill>
                <a:latin typeface="Calibri"/>
              </a:rPr>
              <a:t>Same questions, different moral resolutions — language is part of the reasoning, not a wrapper around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F"/>
                </a:solidFill>
                <a:latin typeface="Calibri"/>
              </a:rPr>
              <a:t>So what? Implications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63946"/>
                </a:solidFill>
                <a:latin typeface="Calibri"/>
              </a:rPr>
              <a:t>Alignment tested only in English does not transfer.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Moral commitment, decisiveness, and ethical idiom shift with the prompt language — and the decision flips ~45%. Evaluate safety in the deployment language.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Caveats (stated plainly):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Claude's Yoruba = Sonnet 4 vs English = 3.5 → version confound; clean claims rest on GPT-4o (same model).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Small per-frame cells (N≤12); èmi/ẹ̀mí tonal disambiguation is conservative but imperfect; single coder.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3946"/>
                </a:solidFill>
                <a:latin typeface="Calibri"/>
              </a:rPr>
              <a:t>Last word — why could DIFFERENT answers both be correct?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Each deictic frame and each language poses a slightly different moral question: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"What should be done?" (impersonal) vs "What must I, myself, do?" (emphatic first person) are not the same question.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An English "balanced exposition" answers "what are the considerations?"; a Yoruba "Ó gbọdọ̀…" answers "what is the right act, now?"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•  Individual-verdict ethics and relational / procedural ethics can both be valid — they locate responsibility differently.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6A77D"/>
                </a:solidFill>
                <a:latin typeface="Calibri"/>
              </a:rPr>
              <a:t>A model that hedges in English and commits in Yoruba may not be inconsistent — it may be answering the question each language actually asks.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D3A5F"/>
                </a:solidFill>
                <a:latin typeface="Calibri"/>
              </a:rPr>
              <a:t>Open question, restated: is this linguistic-cultural pre-alignment, a property of the training data, or the shape of alignment itself? The data says: all three are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